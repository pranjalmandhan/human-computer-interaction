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9" r:id="rId15"/>
    <p:sldId id="290" r:id="rId16"/>
    <p:sldId id="291" r:id="rId17"/>
    <p:sldId id="292" r:id="rId18"/>
    <p:sldId id="285" r:id="rId19"/>
    <p:sldId id="286" r:id="rId20"/>
    <p:sldId id="287" r:id="rId21"/>
    <p:sldId id="293" r:id="rId22"/>
    <p:sldId id="288" r:id="rId23"/>
    <p:sldId id="294" r:id="rId24"/>
    <p:sldId id="296" r:id="rId25"/>
    <p:sldId id="297" r:id="rId26"/>
    <p:sldId id="298" r:id="rId27"/>
    <p:sldId id="303" r:id="rId28"/>
    <p:sldId id="302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304" r:id="rId45"/>
    <p:sldId id="305" r:id="rId46"/>
    <p:sldId id="306" r:id="rId47"/>
    <p:sldId id="30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790DA-0CC7-4288-AC8B-67B5C2212D5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210F9-6433-46BC-B302-E06A176AA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3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49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12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7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3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1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2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69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2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1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4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70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235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6617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32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45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87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4186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9511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8774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379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563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49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9330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0748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6911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715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26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513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84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618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237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8124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8748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071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05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975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9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2" r:id="rId33"/>
    <p:sldLayoutId id="2147483683" r:id="rId34"/>
    <p:sldLayoutId id="2147483684" r:id="rId35"/>
    <p:sldLayoutId id="2147483688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4254320" y="4807039"/>
            <a:ext cx="7162800" cy="1447800"/>
          </a:xfrm>
        </p:spPr>
        <p:txBody>
          <a:bodyPr>
            <a:normAutofit/>
          </a:bodyPr>
          <a:lstStyle/>
          <a:p>
            <a:pPr algn="r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Memory (Chapter 22)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Lecture 3-4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98" y="281189"/>
            <a:ext cx="639221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5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2538"/>
            <a:ext cx="6821714" cy="3581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5814" t="9876" r="5814" b="6173"/>
          <a:stretch/>
        </p:blipFill>
        <p:spPr>
          <a:xfrm>
            <a:off x="2819400" y="3810000"/>
            <a:ext cx="57912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796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53295" y="1371600"/>
            <a:ext cx="8153400" cy="533400"/>
          </a:xfrm>
        </p:spPr>
        <p:txBody>
          <a:bodyPr>
            <a:normAutofit/>
          </a:bodyPr>
          <a:lstStyle/>
          <a:p>
            <a:r>
              <a:rPr lang="en-US" dirty="0" smtClean="0"/>
              <a:t>The Human: Understanding Users  </a:t>
            </a:r>
          </a:p>
        </p:txBody>
      </p:sp>
      <p:sp>
        <p:nvSpPr>
          <p:cNvPr id="5" name="object 3"/>
          <p:cNvSpPr/>
          <p:nvPr/>
        </p:nvSpPr>
        <p:spPr>
          <a:xfrm>
            <a:off x="1774984" y="1995152"/>
            <a:ext cx="81534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124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4986" y="79855"/>
            <a:ext cx="3733800" cy="869950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828800" y="949805"/>
            <a:ext cx="9028090" cy="552719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need to understand users?   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user is different 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Cognition  </a:t>
            </a:r>
          </a:p>
          <a:p>
            <a:pPr marL="974725" lvl="1" indent="-169863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process refers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seeing, touching,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hearing, smelling, tasting, thinking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learning, remembering,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reading, writing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talking,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on</a:t>
            </a:r>
          </a:p>
          <a:p>
            <a:pPr marL="974725" lvl="1" indent="-169863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kinds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Cognition (Norman, 1993)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90663" lvl="1"/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Experiential Cognition: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perceive, act, and react to events that occur in surroundings efficiently and effortlessly.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requires a level of expertise and engagement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drive a car, reading a book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90663" lvl="1"/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Reflective Cognition: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thinking, comparison and decision making that lead to new ideas and creativity (e.g. designing, learning and writing a book)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4725" lvl="1" indent="-169863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Cognition involves memory and its process that need to be taken into account to understand its types, capacity and limitations  </a:t>
            </a:r>
          </a:p>
          <a:p>
            <a:pPr marL="974725" lvl="1" indent="-169863">
              <a:lnSpc>
                <a:spcPct val="10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User(s) Attention</a:t>
            </a:r>
          </a:p>
          <a:p>
            <a:pPr lvl="1"/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User(s) Emotions influence their capabilities   </a:t>
            </a:r>
          </a:p>
          <a:p>
            <a:pPr lvl="1"/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term</a:t>
            </a:r>
          </a:p>
        </p:txBody>
      </p:sp>
      <p:sp>
        <p:nvSpPr>
          <p:cNvPr id="3" name="Cloud Callout 2"/>
          <p:cNvSpPr/>
          <p:nvPr/>
        </p:nvSpPr>
        <p:spPr>
          <a:xfrm>
            <a:off x="6951372" y="14975"/>
            <a:ext cx="3733800" cy="1482144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7391400" y="369095"/>
            <a:ext cx="327660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cognition is the mental process users use to perceive, process, and respond to information when using a system</a:t>
            </a:r>
          </a:p>
          <a:p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886200" y="1143000"/>
            <a:ext cx="3505200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2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73050"/>
            <a:ext cx="8077200" cy="6413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95500" y="1066800"/>
            <a:ext cx="81534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is an ability to take in information, encode it, store it, and retrieve it at a later time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not a simple information store. It is a constructive process, in which, information is broken into three stages, i.e. Encoding, Storing and Retrieving.   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affected by the type of information to be stored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active repository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cannot be studied meaningfully in isolation.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Memory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Sensory memory -</a:t>
            </a:r>
            <a:r>
              <a:rPr lang="en-US" sz="2200" dirty="0"/>
              <a:t>Sensory memory briefly holds information from your senses (sight, sound, smell, touch).</a:t>
            </a:r>
            <a:endParaRPr lang="en-US" sz="1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term/Working memory-</a:t>
            </a:r>
            <a:r>
              <a:rPr lang="en-US" dirty="0"/>
              <a:t>Short-term memory holds information for </a:t>
            </a:r>
            <a:r>
              <a:rPr lang="en-US" b="1" dirty="0"/>
              <a:t>a few seconds or minutes</a:t>
            </a:r>
            <a:r>
              <a:rPr lang="en-US" dirty="0"/>
              <a:t> while you actively use it. Ex-OTP</a:t>
            </a:r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term-</a:t>
            </a:r>
            <a:r>
              <a:rPr lang="en-US" sz="2000" dirty="0"/>
              <a:t>Long-term memory stores information for </a:t>
            </a:r>
            <a:r>
              <a:rPr lang="en-US" sz="2000" b="1" dirty="0"/>
              <a:t>days, years, or even a lifetime</a:t>
            </a:r>
            <a:r>
              <a:rPr lang="en-US" sz="2000" dirty="0"/>
              <a:t>. Ex-YOUR Name-</a:t>
            </a:r>
            <a:r>
              <a:rPr lang="en-US" sz="2000" dirty="0" err="1"/>
              <a:t>DoB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21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5962" y="131990"/>
            <a:ext cx="8077200" cy="86995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Stores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121229"/>
            <a:ext cx="79343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139" y="3505200"/>
            <a:ext cx="4578600" cy="304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34740" y="3897023"/>
            <a:ext cx="176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senses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1" y="5257800"/>
            <a:ext cx="2255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body senses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705601" y="4081689"/>
            <a:ext cx="1729139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733800" y="4897726"/>
            <a:ext cx="1219200" cy="544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953470" y="4528394"/>
            <a:ext cx="1486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60863" y="3244334"/>
            <a:ext cx="1470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Body position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7071558" y="4697853"/>
            <a:ext cx="1729139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341175" y="4507468"/>
            <a:ext cx="1535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Pain sensation</a:t>
            </a:r>
          </a:p>
        </p:txBody>
      </p:sp>
    </p:spTree>
    <p:extLst>
      <p:ext uri="{BB962C8B-B14F-4D97-AF65-F5344CB8AC3E}">
        <p14:creationId xmlns:p14="http://schemas.microsoft.com/office/powerpoint/2010/main" val="74146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Sensory Stores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33600" y="1752600"/>
            <a:ext cx="8153400" cy="25908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Iconic, echoic, and haptic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stores / buffers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overwritten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 transferred within a fraction of a second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Fireworks Trail or Moving Finger</a:t>
            </a:r>
          </a:p>
        </p:txBody>
      </p:sp>
    </p:spTree>
    <p:extLst>
      <p:ext uri="{BB962C8B-B14F-4D97-AF65-F5344CB8AC3E}">
        <p14:creationId xmlns:p14="http://schemas.microsoft.com/office/powerpoint/2010/main" val="234490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Memory 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55254" y="1600200"/>
            <a:ext cx="8153400" cy="44196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 executive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a system for processing, working with current info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activities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 and planning</a:t>
            </a: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Visual-spatial sketchpad/scratchpad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and spatial info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Mind’s eye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capacity: 4-5 items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± 2??)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Last the info: 20 Seconds</a:t>
            </a: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Articulatory loop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Audio info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Inner voice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32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Memory [2/3]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rapid </a:t>
            </a:r>
            <a:r>
              <a:rPr lang="en-US" dirty="0"/>
              <a:t>access ~ 70ms</a:t>
            </a:r>
          </a:p>
          <a:p>
            <a:r>
              <a:rPr lang="en-US" dirty="0" smtClean="0"/>
              <a:t>rapid </a:t>
            </a:r>
            <a:r>
              <a:rPr lang="en-US" dirty="0"/>
              <a:t>decay ~ 200ms</a:t>
            </a:r>
          </a:p>
          <a:p>
            <a:r>
              <a:rPr lang="en-US" b="1" dirty="0" smtClean="0"/>
              <a:t>Rehearsa</a:t>
            </a:r>
            <a:r>
              <a:rPr lang="en-US" dirty="0" smtClean="0"/>
              <a:t>l</a:t>
            </a:r>
          </a:p>
          <a:p>
            <a:pPr lvl="1"/>
            <a:r>
              <a:rPr lang="en-US" dirty="0" smtClean="0"/>
              <a:t>Repeating info oneself without attempting to finding meaning</a:t>
            </a:r>
          </a:p>
          <a:p>
            <a:pPr lvl="1"/>
            <a:r>
              <a:rPr lang="en-US" dirty="0"/>
              <a:t>Info loss if not rehearsed</a:t>
            </a:r>
          </a:p>
          <a:p>
            <a:pPr lvl="1"/>
            <a:r>
              <a:rPr lang="en-US" dirty="0" smtClean="0"/>
              <a:t>Refreshing </a:t>
            </a:r>
            <a:r>
              <a:rPr lang="en-US" dirty="0"/>
              <a:t>the contents</a:t>
            </a:r>
          </a:p>
          <a:p>
            <a:pPr marL="171450" lvl="1">
              <a:lnSpc>
                <a:spcPct val="100000"/>
              </a:lnSpc>
              <a:spcBef>
                <a:spcPts val="750"/>
              </a:spcBef>
              <a:buClr>
                <a:schemeClr val="accent2"/>
              </a:buClr>
              <a:buSzPct val="60000"/>
            </a:pPr>
            <a:r>
              <a:rPr lang="en-US" sz="2100" b="1" dirty="0"/>
              <a:t>Chucking</a:t>
            </a:r>
          </a:p>
          <a:p>
            <a:pPr lvl="1"/>
            <a:r>
              <a:rPr lang="en-US" dirty="0" smtClean="0"/>
              <a:t>Grouping items to make them easier to remember</a:t>
            </a:r>
          </a:p>
          <a:p>
            <a:pPr marL="171450" lvl="1">
              <a:lnSpc>
                <a:spcPct val="110000"/>
              </a:lnSpc>
              <a:spcBef>
                <a:spcPts val="750"/>
              </a:spcBef>
              <a:buClr>
                <a:schemeClr val="accent2"/>
              </a:buClr>
              <a:buSzPct val="60000"/>
            </a:pPr>
            <a:r>
              <a:rPr lang="en-US" sz="2100" b="1" dirty="0"/>
              <a:t>The Primacy-</a:t>
            </a:r>
            <a:r>
              <a:rPr lang="en-US" sz="2100" b="1" dirty="0" err="1"/>
              <a:t>Recency</a:t>
            </a:r>
            <a:r>
              <a:rPr lang="en-US" sz="2100" b="1" dirty="0"/>
              <a:t> Effect</a:t>
            </a:r>
          </a:p>
          <a:p>
            <a:pPr lvl="1"/>
            <a:r>
              <a:rPr lang="en-US" dirty="0" smtClean="0"/>
              <a:t>Recalling </a:t>
            </a:r>
            <a:r>
              <a:rPr lang="en-US" dirty="0"/>
              <a:t>information presented at the beginning and end of a </a:t>
            </a:r>
            <a:r>
              <a:rPr lang="en-US" dirty="0" smtClean="0"/>
              <a:t>list</a:t>
            </a:r>
          </a:p>
          <a:p>
            <a:pPr marL="1033463" lvl="1" indent="-407988">
              <a:buFont typeface="Wingdings" panose="05000000000000000000" pitchFamily="2" charset="2"/>
              <a:buChar char="§"/>
            </a:pPr>
            <a:r>
              <a:rPr lang="en-US" dirty="0" smtClean="0"/>
              <a:t>For example: Forgetting </a:t>
            </a:r>
            <a:r>
              <a:rPr lang="en-US" dirty="0"/>
              <a:t>things in the </a:t>
            </a:r>
            <a:r>
              <a:rPr lang="en-US" dirty="0" smtClean="0"/>
              <a:t>middle </a:t>
            </a:r>
          </a:p>
          <a:p>
            <a:r>
              <a:rPr lang="en-US" b="1" dirty="0" smtClean="0"/>
              <a:t>Displacement</a:t>
            </a:r>
          </a:p>
          <a:p>
            <a:pPr lvl="1"/>
            <a:r>
              <a:rPr lang="en-US" dirty="0" smtClean="0"/>
              <a:t>New contents replace old ones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7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Memory [3/3]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05190495337</a:t>
            </a:r>
          </a:p>
          <a:p>
            <a:pPr lvl="1"/>
            <a:r>
              <a:rPr lang="en-US" dirty="0" smtClean="0"/>
              <a:t>051 9049 5337</a:t>
            </a:r>
          </a:p>
          <a:p>
            <a:pPr lvl="1"/>
            <a:r>
              <a:rPr lang="en-GB" altLang="en-US" dirty="0" smtClean="0"/>
              <a:t>HEC </a:t>
            </a:r>
            <a:r>
              <a:rPr lang="en-GB" altLang="en-US" dirty="0"/>
              <a:t>ATR ANU PTH ETR 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0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Long-Term Memory 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33600" y="1516698"/>
            <a:ext cx="8153400" cy="534130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Unlimited memory</a:t>
            </a:r>
          </a:p>
          <a:p>
            <a:r>
              <a:rPr lang="en-US" dirty="0" smtClean="0"/>
              <a:t>Lifetime storage</a:t>
            </a:r>
          </a:p>
          <a:p>
            <a:r>
              <a:rPr lang="en-US" dirty="0" smtClean="0"/>
              <a:t>Organized as a network of connected chunks of knowledge </a:t>
            </a:r>
          </a:p>
          <a:p>
            <a:r>
              <a:rPr lang="en-US" b="1" dirty="0"/>
              <a:t>Semantic memory</a:t>
            </a:r>
          </a:p>
          <a:p>
            <a:pPr lvl="1"/>
            <a:r>
              <a:rPr lang="en-US" dirty="0" smtClean="0"/>
              <a:t>Well-structured information about languages, things, events and incidents</a:t>
            </a:r>
          </a:p>
          <a:p>
            <a:pPr lvl="1"/>
            <a:r>
              <a:rPr lang="en-US" dirty="0"/>
              <a:t>Knowledge of </a:t>
            </a:r>
            <a:r>
              <a:rPr lang="en-US" dirty="0" smtClean="0"/>
              <a:t>facts and concepts about world</a:t>
            </a:r>
            <a:endParaRPr lang="en-US" dirty="0"/>
          </a:p>
          <a:p>
            <a:pPr lvl="1"/>
            <a:r>
              <a:rPr lang="en-US" dirty="0" smtClean="0"/>
              <a:t>For example, knowledge of language including its rules, words and their associated meaning (info: coded with meaning)</a:t>
            </a:r>
          </a:p>
          <a:p>
            <a:pPr lvl="1"/>
            <a:r>
              <a:rPr lang="en-US" b="1" dirty="0" smtClean="0"/>
              <a:t>Info</a:t>
            </a:r>
            <a:r>
              <a:rPr lang="en-US" dirty="0" smtClean="0"/>
              <a:t> is taken into account related </a:t>
            </a:r>
            <a:r>
              <a:rPr lang="en-US" dirty="0"/>
              <a:t>to five </a:t>
            </a:r>
            <a:r>
              <a:rPr lang="en-US" dirty="0" smtClean="0"/>
              <a:t>senses i.e. coded in different forms too e.g. memory of music or bark of dog are encoded as auditory information</a:t>
            </a:r>
          </a:p>
          <a:p>
            <a:pPr lvl="1"/>
            <a:r>
              <a:rPr lang="en-US" b="1" dirty="0" smtClean="0"/>
              <a:t>Info</a:t>
            </a:r>
            <a:r>
              <a:rPr lang="en-US" dirty="0" smtClean="0"/>
              <a:t>: of haptic touch i.e. encoded to remember as feeling of silk or sting cut</a:t>
            </a:r>
          </a:p>
          <a:p>
            <a:pPr lvl="1"/>
            <a:r>
              <a:rPr lang="en-US" b="1" dirty="0" smtClean="0"/>
              <a:t>Info:</a:t>
            </a:r>
            <a:r>
              <a:rPr lang="en-US" dirty="0" smtClean="0"/>
              <a:t> related to sense of smell and taste could be encoded to remember as taste and smell of very fresh and rotten food        </a:t>
            </a:r>
            <a:endParaRPr lang="en-US" dirty="0"/>
          </a:p>
          <a:p>
            <a:r>
              <a:rPr lang="en-US" b="1" dirty="0" smtClean="0"/>
              <a:t>Episodic/Autobiographical </a:t>
            </a:r>
            <a:r>
              <a:rPr lang="en-US" b="1" dirty="0"/>
              <a:t>memory</a:t>
            </a:r>
          </a:p>
          <a:p>
            <a:pPr lvl="1"/>
            <a:r>
              <a:rPr lang="en-US" dirty="0"/>
              <a:t>Personal history</a:t>
            </a:r>
          </a:p>
          <a:p>
            <a:pPr lvl="1"/>
            <a:r>
              <a:rPr lang="en-US" dirty="0"/>
              <a:t>For example, Admission </a:t>
            </a:r>
            <a:r>
              <a:rPr lang="en-US" dirty="0" smtClean="0"/>
              <a:t>day or Graduation Day and 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81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Long-Term Memory [2/3]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Procedural memory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a memory of learned skills that does not require conscious recollection</a:t>
            </a:r>
          </a:p>
          <a:p>
            <a:pPr lvl="1"/>
            <a:r>
              <a:rPr lang="en-US" dirty="0" smtClean="0"/>
              <a:t>It stores information that let us know how to do/operate</a:t>
            </a:r>
          </a:p>
          <a:p>
            <a:pPr lvl="1"/>
            <a:r>
              <a:rPr lang="en-US" dirty="0" smtClean="0"/>
              <a:t>For example, how to drive a car</a:t>
            </a:r>
          </a:p>
          <a:p>
            <a:r>
              <a:rPr lang="en-US" b="1" dirty="0" err="1" smtClean="0"/>
              <a:t>Permastore</a:t>
            </a:r>
            <a:endParaRPr lang="en-US" b="1" dirty="0" smtClean="0"/>
          </a:p>
          <a:p>
            <a:pPr lvl="1"/>
            <a:r>
              <a:rPr lang="en-US" dirty="0" smtClean="0"/>
              <a:t>Lifetime storage</a:t>
            </a:r>
          </a:p>
          <a:p>
            <a:pPr lvl="1"/>
            <a:r>
              <a:rPr lang="en-US" b="1" dirty="0" smtClean="0"/>
              <a:t>Declarative</a:t>
            </a:r>
            <a:r>
              <a:rPr lang="en-US" dirty="0" smtClean="0"/>
              <a:t>: </a:t>
            </a:r>
            <a:r>
              <a:rPr lang="en-US" dirty="0"/>
              <a:t>It is a memory of knowledge that can be called forth consciously as needed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0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Long-Term Memory [3/3]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Encoding/Registration of Information</a:t>
            </a:r>
          </a:p>
          <a:p>
            <a:pPr lvl="1"/>
            <a:r>
              <a:rPr lang="en-US" dirty="0" smtClean="0"/>
              <a:t>The process of receiving, processing and storing the info:</a:t>
            </a:r>
          </a:p>
          <a:p>
            <a:r>
              <a:rPr lang="en-US" b="1" dirty="0" smtClean="0"/>
              <a:t>Retrieval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Accessing the stored info:</a:t>
            </a:r>
          </a:p>
          <a:p>
            <a:r>
              <a:rPr lang="en-US" b="1" dirty="0" smtClean="0"/>
              <a:t>Forgetting</a:t>
            </a:r>
          </a:p>
          <a:p>
            <a:pPr lvl="1"/>
            <a:r>
              <a:rPr lang="en-US" dirty="0" smtClean="0"/>
              <a:t>Fail to recover info due to decay, interference, and repression</a:t>
            </a:r>
          </a:p>
          <a:p>
            <a:r>
              <a:rPr lang="en-US" b="1" dirty="0" smtClean="0"/>
              <a:t>Levels of Processing (</a:t>
            </a:r>
            <a:r>
              <a:rPr lang="en-US" b="1" dirty="0" err="1" smtClean="0"/>
              <a:t>LoP</a:t>
            </a:r>
            <a:r>
              <a:rPr lang="en-US" b="1" dirty="0" smtClean="0"/>
              <a:t>)</a:t>
            </a:r>
          </a:p>
          <a:p>
            <a:pPr lvl="1"/>
            <a:r>
              <a:rPr lang="en-US" dirty="0"/>
              <a:t>Recognition (e.g. multiple choice questions)</a:t>
            </a:r>
          </a:p>
          <a:p>
            <a:pPr lvl="1"/>
            <a:r>
              <a:rPr lang="en-US" dirty="0"/>
              <a:t>Recall (e.g. membered information)</a:t>
            </a:r>
          </a:p>
        </p:txBody>
      </p:sp>
    </p:spTree>
    <p:extLst>
      <p:ext uri="{BB962C8B-B14F-4D97-AF65-F5344CB8AC3E}">
        <p14:creationId xmlns:p14="http://schemas.microsoft.com/office/powerpoint/2010/main" val="273987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and Why Do We Forget? 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Accessibility</a:t>
            </a:r>
          </a:p>
          <a:p>
            <a:pPr lvl="1"/>
            <a:r>
              <a:rPr lang="en-US" dirty="0" smtClean="0"/>
              <a:t>Ability to retrieve information</a:t>
            </a:r>
          </a:p>
          <a:p>
            <a:r>
              <a:rPr lang="en-US" b="1" dirty="0" smtClean="0"/>
              <a:t>Availability</a:t>
            </a:r>
          </a:p>
          <a:p>
            <a:pPr lvl="1"/>
            <a:r>
              <a:rPr lang="en-US" dirty="0" smtClean="0"/>
              <a:t>Either information stored or not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Example</a:t>
            </a:r>
          </a:p>
          <a:p>
            <a:pPr lvl="1"/>
            <a:r>
              <a:rPr lang="en-US" dirty="0" smtClean="0"/>
              <a:t>You </a:t>
            </a:r>
            <a:r>
              <a:rPr lang="en-US" dirty="0"/>
              <a:t>find the book (the memory is retrieved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book is not in the library (the memory is not </a:t>
            </a:r>
            <a:r>
              <a:rPr lang="en-US" dirty="0" smtClean="0"/>
              <a:t>available)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book is in the library but has been misfiled (not accessible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and Why Do We Forget? [2/3]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Forgetting from working memory</a:t>
            </a:r>
          </a:p>
          <a:p>
            <a:pPr lvl="1"/>
            <a:r>
              <a:rPr lang="en-US" dirty="0" smtClean="0"/>
              <a:t>Decay theory (about 30 seconds)</a:t>
            </a:r>
          </a:p>
          <a:p>
            <a:pPr lvl="1"/>
            <a:r>
              <a:rPr lang="en-US" dirty="0" smtClean="0"/>
              <a:t>Displacement theory</a:t>
            </a:r>
          </a:p>
          <a:p>
            <a:r>
              <a:rPr lang="en-US" b="1" dirty="0" smtClean="0"/>
              <a:t>Forgetting from long-term memory</a:t>
            </a:r>
          </a:p>
          <a:p>
            <a:pPr lvl="1"/>
            <a:r>
              <a:rPr lang="en-US" dirty="0" smtClean="0"/>
              <a:t>Different theories</a:t>
            </a:r>
          </a:p>
          <a:p>
            <a:pPr lvl="1"/>
            <a:r>
              <a:rPr lang="en-US" dirty="0" smtClean="0"/>
              <a:t>Disuse (e.g. a foreign language)</a:t>
            </a:r>
          </a:p>
          <a:p>
            <a:pPr lvl="1"/>
            <a:r>
              <a:rPr lang="en-US" dirty="0" smtClean="0"/>
              <a:t>Interference theory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8913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and Why Do We Forget? [3/3]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Retroactive interference</a:t>
            </a:r>
          </a:p>
          <a:p>
            <a:pPr lvl="1"/>
            <a:r>
              <a:rPr lang="en-US" dirty="0" smtClean="0"/>
              <a:t>New info replaces the old one</a:t>
            </a:r>
          </a:p>
          <a:p>
            <a:pPr lvl="1"/>
            <a:r>
              <a:rPr lang="en-US" dirty="0" smtClean="0"/>
              <a:t>Example: manual to automatic car</a:t>
            </a:r>
          </a:p>
          <a:p>
            <a:r>
              <a:rPr lang="en-US" b="1" dirty="0" smtClean="0"/>
              <a:t>Proactive interference</a:t>
            </a:r>
          </a:p>
          <a:p>
            <a:pPr lvl="1"/>
            <a:r>
              <a:rPr lang="en-US" dirty="0" smtClean="0"/>
              <a:t>Old info interferes the new one</a:t>
            </a:r>
          </a:p>
          <a:p>
            <a:pPr lvl="1"/>
            <a:r>
              <a:rPr lang="en-US" dirty="0" smtClean="0"/>
              <a:t>Example: old and new phone number</a:t>
            </a:r>
          </a:p>
          <a:p>
            <a:r>
              <a:rPr lang="en-US" b="1" dirty="0" smtClean="0"/>
              <a:t>Retrieval failure theory</a:t>
            </a:r>
          </a:p>
          <a:p>
            <a:pPr lvl="1"/>
            <a:r>
              <a:rPr lang="en-US" dirty="0" smtClean="0"/>
              <a:t>Incorrect retrieval cue</a:t>
            </a:r>
          </a:p>
          <a:p>
            <a:pPr lvl="1"/>
            <a:r>
              <a:rPr lang="en-US" dirty="0" smtClean="0"/>
              <a:t>‘Filing’ the memory in the wrong place</a:t>
            </a:r>
          </a:p>
          <a:p>
            <a:pPr lvl="1"/>
            <a:r>
              <a:rPr lang="en-US" dirty="0" smtClean="0"/>
              <a:t>‘Tip of the tongue’ phenomenon (e.g. difficult to recall words with meaning)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0230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797" y="208656"/>
            <a:ext cx="10769600" cy="869950"/>
          </a:xfrm>
        </p:spPr>
        <p:txBody>
          <a:bodyPr/>
          <a:lstStyle/>
          <a:p>
            <a:r>
              <a:rPr lang="en-US" dirty="0" smtClean="0"/>
              <a:t>Attention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48743" y="1301839"/>
            <a:ext cx="9779357" cy="5105400"/>
          </a:xfrm>
        </p:spPr>
        <p:txBody>
          <a:bodyPr>
            <a:normAutofit/>
          </a:bodyPr>
          <a:lstStyle/>
          <a:p>
            <a:r>
              <a:rPr lang="en-US" b="1" dirty="0" smtClean="0"/>
              <a:t>Major human ability</a:t>
            </a:r>
          </a:p>
          <a:p>
            <a:r>
              <a:rPr lang="en-US" b="1" dirty="0" smtClean="0"/>
              <a:t>Central to an activity</a:t>
            </a:r>
          </a:p>
          <a:p>
            <a:r>
              <a:rPr lang="en-US" b="1" dirty="0" smtClean="0"/>
              <a:t>Selective attention</a:t>
            </a:r>
          </a:p>
          <a:p>
            <a:pPr lvl="1"/>
            <a:r>
              <a:rPr lang="en-US" dirty="0" smtClean="0"/>
              <a:t>Awareness of sensory info</a:t>
            </a:r>
          </a:p>
          <a:p>
            <a:pPr lvl="1"/>
            <a:r>
              <a:rPr lang="en-US" dirty="0" smtClean="0"/>
              <a:t>Cocktail party effect or Two different head phones</a:t>
            </a:r>
          </a:p>
          <a:p>
            <a:r>
              <a:rPr lang="en-US" b="1" dirty="0" smtClean="0"/>
              <a:t>Divided attention</a:t>
            </a:r>
          </a:p>
          <a:p>
            <a:pPr lvl="1"/>
            <a:r>
              <a:rPr lang="en-US" dirty="0" smtClean="0"/>
              <a:t>Mental resources</a:t>
            </a:r>
          </a:p>
          <a:p>
            <a:pPr lvl="1"/>
            <a:r>
              <a:rPr lang="en-US" dirty="0" smtClean="0"/>
              <a:t>Multi-tasking (e.g. watching TV and holding conversation on mobile phone)</a:t>
            </a:r>
          </a:p>
          <a:p>
            <a:pPr marL="342900" lvl="1" indent="-342900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dirty="0"/>
              <a:t>Result: Selective attention leads to excellent performance and Divided attention leads to poor </a:t>
            </a:r>
            <a:r>
              <a:rPr lang="en-US" dirty="0" smtClean="0"/>
              <a:t>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7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Schematic Model of Memory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057" y="1143000"/>
            <a:ext cx="8830858" cy="542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129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99" y="189964"/>
            <a:ext cx="8382000" cy="717550"/>
          </a:xfrm>
        </p:spPr>
        <p:txBody>
          <a:bodyPr>
            <a:normAutofit/>
          </a:bodyPr>
          <a:lstStyle/>
          <a:p>
            <a:r>
              <a:rPr lang="en-US" sz="3600" dirty="0"/>
              <a:t>Recap of Memory and its importance in HCI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73299" y="907514"/>
            <a:ext cx="10834352" cy="5257800"/>
          </a:xfrm>
        </p:spPr>
        <p:txBody>
          <a:bodyPr>
            <a:noAutofit/>
          </a:bodyPr>
          <a:lstStyle/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memory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mechanisms that determine person’s interaction with the outer world and helps in perceiving the objects that exist in world around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us.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determining, processing, recognizing and perceiving the elements/objects of our surroundings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organize the data on the screen properly and strengthen information architecture of system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imperfect i.e. largely influenced by various factors such physical, social, psychological, emotional and etc. 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deceptive, illusive or abstract, because, it is colored by today’s events/incidents as stated by Albert Einstein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memory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could be difficult to imagine and make sense about system/life that could be purpose, meaning, and value of system/life 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memory: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language, No art, No science and No culture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and attention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together and enable us to act and react in surroundings accordingly. These two aspects of human beings introduce the possibilities of making mistakes, having accidents or doing things unintentionally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 attention, and error are also associated/related to emotions </a:t>
            </a:r>
          </a:p>
        </p:txBody>
      </p:sp>
    </p:spTree>
    <p:extLst>
      <p:ext uri="{BB962C8B-B14F-4D97-AF65-F5344CB8AC3E}">
        <p14:creationId xmlns:p14="http://schemas.microsoft.com/office/powerpoint/2010/main" val="197809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087" y="177084"/>
            <a:ext cx="8382000" cy="717550"/>
          </a:xfrm>
        </p:spPr>
        <p:txBody>
          <a:bodyPr>
            <a:normAutofit/>
          </a:bodyPr>
          <a:lstStyle/>
          <a:p>
            <a:r>
              <a:rPr lang="en-US" sz="3600" dirty="0"/>
              <a:t>Recap of Memory and its importance in HCI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2087" y="1020650"/>
            <a:ext cx="10573555" cy="5181600"/>
          </a:xfrm>
        </p:spPr>
        <p:txBody>
          <a:bodyPr>
            <a:noAutofit/>
          </a:bodyPr>
          <a:lstStyle/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In this regard, it is essential to understand memory and its working nature from design perspective to design according to its </a:t>
            </a:r>
            <a:r>
              <a:rPr lang="en-US" sz="2000" b="1" dirty="0"/>
              <a:t>capacity rather than against its capacities and </a:t>
            </a:r>
            <a:r>
              <a:rPr lang="en-US" sz="2000" b="1" dirty="0" smtClean="0"/>
              <a:t>limitations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b="1" dirty="0"/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It is important to know how memory works, and suggest to designers for creating human-centered interfaces which correspond to the </a:t>
            </a:r>
            <a:r>
              <a:rPr lang="en-US" sz="2000" b="1" dirty="0"/>
              <a:t>natural abilities of the users, save their effort and boost positive usability/UX of </a:t>
            </a:r>
            <a:r>
              <a:rPr lang="en-US" sz="2000" b="1" dirty="0" smtClean="0"/>
              <a:t>systems/services/products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b="1" dirty="0"/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Understanding memory is important for user interface designs and also very useful for designing </a:t>
            </a:r>
            <a:r>
              <a:rPr lang="en-US" sz="2000" b="1" dirty="0"/>
              <a:t>information visualization systems, very complex or critical systems/highly-intensive systems as whole</a:t>
            </a:r>
            <a:r>
              <a:rPr lang="en-US" sz="2000" dirty="0"/>
              <a:t> to make these systems easily understandable for viewers/users in very short period of </a:t>
            </a:r>
            <a:r>
              <a:rPr lang="en-US" sz="2000" dirty="0" smtClean="0"/>
              <a:t>time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 smtClean="0"/>
              <a:t> </a:t>
            </a:r>
            <a:endParaRPr lang="en-US" sz="2000" dirty="0"/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It enables in executing </a:t>
            </a:r>
            <a:r>
              <a:rPr lang="en-US" sz="2000" b="1" dirty="0"/>
              <a:t>tasks and achieving goals </a:t>
            </a:r>
            <a:r>
              <a:rPr lang="en-US" sz="2000" dirty="0"/>
              <a:t>and consequently leads in creating the excellent memories and memorable </a:t>
            </a:r>
            <a:r>
              <a:rPr lang="en-US" sz="2000" b="1" dirty="0"/>
              <a:t>usability/user experience while interacting with products/systems/services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0475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Attention Works [1/2]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2800" y="1450222"/>
            <a:ext cx="10871200" cy="4419600"/>
          </a:xfrm>
        </p:spPr>
        <p:txBody>
          <a:bodyPr/>
          <a:lstStyle/>
          <a:p>
            <a:r>
              <a:rPr lang="en-US" dirty="0" smtClean="0"/>
              <a:t>‘Bottleneck’ theories</a:t>
            </a:r>
          </a:p>
          <a:p>
            <a:pPr lvl="1"/>
            <a:r>
              <a:rPr lang="en-US" dirty="0"/>
              <a:t>Broadbent’s single-channel </a:t>
            </a:r>
            <a:r>
              <a:rPr lang="en-US" dirty="0" smtClean="0"/>
              <a:t>theory</a:t>
            </a:r>
          </a:p>
          <a:p>
            <a:pPr lvl="1"/>
            <a:r>
              <a:rPr lang="en-US" dirty="0" smtClean="0"/>
              <a:t>Filtering info</a:t>
            </a:r>
          </a:p>
          <a:p>
            <a:pPr lvl="1"/>
            <a:r>
              <a:rPr lang="en-US" dirty="0" smtClean="0"/>
              <a:t>Single-task processing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Capacity allocation</a:t>
            </a:r>
          </a:p>
          <a:p>
            <a:pPr lvl="1"/>
            <a:r>
              <a:rPr lang="en-US" dirty="0" smtClean="0"/>
              <a:t>Limited resource</a:t>
            </a:r>
          </a:p>
          <a:p>
            <a:pPr lvl="1"/>
            <a:r>
              <a:rPr lang="en-US" dirty="0" smtClean="0"/>
              <a:t>Multi-tasking</a:t>
            </a:r>
          </a:p>
          <a:p>
            <a:pPr lvl="1"/>
            <a:r>
              <a:rPr lang="en-US" dirty="0" smtClean="0"/>
              <a:t>Other factors such as enduring dispositions and momentary intentions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949" y="1450222"/>
            <a:ext cx="5516451" cy="285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4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Tips for memory-friendly Usability/UX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93859" y="1572296"/>
            <a:ext cx="10871200" cy="4419600"/>
          </a:xfrm>
        </p:spPr>
        <p:txBody>
          <a:bodyPr>
            <a:normAutofit/>
          </a:bodyPr>
          <a:lstStyle/>
          <a:p>
            <a:pPr lvl="0"/>
            <a:r>
              <a:rPr lang="en-US" sz="2600" dirty="0"/>
              <a:t>Don’t make users memorize many items at once</a:t>
            </a:r>
          </a:p>
          <a:p>
            <a:pPr lvl="0"/>
            <a:r>
              <a:rPr lang="en-US" sz="2600" dirty="0"/>
              <a:t>Don’t present too many elements for the choice together</a:t>
            </a:r>
          </a:p>
          <a:p>
            <a:pPr lvl="0"/>
            <a:r>
              <a:rPr lang="en-US" sz="2600" dirty="0"/>
              <a:t>Save memory effort with recognizable patterns and symbols</a:t>
            </a:r>
          </a:p>
          <a:p>
            <a:pPr lvl="0"/>
            <a:r>
              <a:rPr lang="en-US" sz="2600" dirty="0"/>
              <a:t>Apply consistent markers in navigation</a:t>
            </a:r>
          </a:p>
          <a:p>
            <a:pPr lvl="0"/>
            <a:r>
              <a:rPr lang="en-US" sz="2600" dirty="0"/>
              <a:t>Don’t hide the core elements of navigation</a:t>
            </a:r>
          </a:p>
          <a:p>
            <a:pPr lvl="0"/>
            <a:r>
              <a:rPr lang="en-US" sz="2600" dirty="0"/>
              <a:t>Stimulate different types of memory</a:t>
            </a:r>
          </a:p>
          <a:p>
            <a:r>
              <a:rPr lang="en-US" sz="2600" dirty="0"/>
              <a:t>Remember about emotions</a:t>
            </a:r>
          </a:p>
          <a:p>
            <a:r>
              <a:rPr lang="en-US" sz="2600" dirty="0"/>
              <a:t>Avoid burdening user’s memory working load</a:t>
            </a:r>
          </a:p>
        </p:txBody>
      </p:sp>
    </p:spTree>
    <p:extLst>
      <p:ext uri="{BB962C8B-B14F-4D97-AF65-F5344CB8AC3E}">
        <p14:creationId xmlns:p14="http://schemas.microsoft.com/office/powerpoint/2010/main" val="235391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Attention </a:t>
            </a:r>
            <a:r>
              <a:rPr lang="en-US" dirty="0" smtClean="0"/>
              <a:t>Works [2/2]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6000124" cy="4419600"/>
          </a:xfrm>
        </p:spPr>
        <p:txBody>
          <a:bodyPr/>
          <a:lstStyle/>
          <a:p>
            <a:r>
              <a:rPr lang="en-US" b="1" dirty="0" smtClean="0"/>
              <a:t>Automatic processing</a:t>
            </a:r>
          </a:p>
          <a:p>
            <a:pPr lvl="1"/>
            <a:r>
              <a:rPr lang="en-US" dirty="0" smtClean="0"/>
              <a:t>Familiar tasks</a:t>
            </a:r>
          </a:p>
          <a:p>
            <a:pPr lvl="1"/>
            <a:r>
              <a:rPr lang="en-US" dirty="0" smtClean="0"/>
              <a:t>Little or no demand on attention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b="1" dirty="0" smtClean="0"/>
              <a:t>Controlled processing</a:t>
            </a:r>
          </a:p>
          <a:p>
            <a:pPr lvl="1"/>
            <a:r>
              <a:rPr lang="en-US" dirty="0" smtClean="0"/>
              <a:t>Unfamiliar tasks</a:t>
            </a:r>
          </a:p>
          <a:p>
            <a:pPr lvl="1"/>
            <a:r>
              <a:rPr lang="en-US" dirty="0" smtClean="0"/>
              <a:t>Heavy demand on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23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Factors Affecting Attention 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Stress</a:t>
            </a:r>
          </a:p>
          <a:p>
            <a:pPr lvl="1"/>
            <a:r>
              <a:rPr lang="en-US" dirty="0" smtClean="0"/>
              <a:t>Affects our ability to pay attention</a:t>
            </a:r>
          </a:p>
          <a:p>
            <a:pPr lvl="1"/>
            <a:r>
              <a:rPr lang="en-US" dirty="0" smtClean="0"/>
              <a:t>Noise, light, and vibration etc.</a:t>
            </a:r>
          </a:p>
          <a:p>
            <a:pPr lvl="1"/>
            <a:r>
              <a:rPr lang="en-US" dirty="0" smtClean="0"/>
              <a:t>Anxiety, fatigue, and anger etc.</a:t>
            </a:r>
          </a:p>
          <a:p>
            <a:r>
              <a:rPr lang="en-US" b="1" dirty="0" smtClean="0"/>
              <a:t>Vigilance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execution of a task wherein an individual is required to monitor an instrument or situation for a signal</a:t>
            </a:r>
          </a:p>
          <a:p>
            <a:pPr lvl="1"/>
            <a:r>
              <a:rPr lang="en-US" dirty="0"/>
              <a:t>Examples??</a:t>
            </a:r>
          </a:p>
          <a:p>
            <a:pPr lvl="1"/>
            <a:r>
              <a:rPr lang="en-US" dirty="0"/>
              <a:t>In-car systems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4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</a:t>
            </a:r>
            <a:r>
              <a:rPr lang="en-US" dirty="0" smtClean="0"/>
              <a:t>Attention [2/3]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11200" y="1404871"/>
            <a:ext cx="10871200" cy="4828504"/>
          </a:xfrm>
        </p:spPr>
        <p:txBody>
          <a:bodyPr/>
          <a:lstStyle/>
          <a:p>
            <a:r>
              <a:rPr lang="en-US" dirty="0" smtClean="0"/>
              <a:t>Mental workload</a:t>
            </a:r>
          </a:p>
          <a:p>
            <a:pPr lvl="1"/>
            <a:r>
              <a:rPr lang="en-US" dirty="0" smtClean="0"/>
              <a:t>How busy is the user or operator?</a:t>
            </a:r>
          </a:p>
          <a:p>
            <a:pPr lvl="1"/>
            <a:r>
              <a:rPr lang="en-US" b="1" dirty="0" smtClean="0"/>
              <a:t>NASA </a:t>
            </a:r>
            <a:r>
              <a:rPr lang="en-US" b="1" dirty="0"/>
              <a:t>Task Load Index (NASA-TLX)</a:t>
            </a:r>
            <a:endParaRPr lang="en-US" dirty="0" smtClean="0"/>
          </a:p>
          <a:p>
            <a:pPr lvl="2"/>
            <a:r>
              <a:rPr lang="en-US" dirty="0" smtClean="0"/>
              <a:t>Mental demand, Physical demand, Temporal demand, Performance, Effort, frustration level</a:t>
            </a:r>
          </a:p>
          <a:p>
            <a:endParaRPr lang="en-US" dirty="0" smtClean="0"/>
          </a:p>
          <a:p>
            <a:r>
              <a:rPr lang="en-US" dirty="0" smtClean="0"/>
              <a:t>Visual search</a:t>
            </a:r>
          </a:p>
          <a:p>
            <a:pPr lvl="1"/>
            <a:r>
              <a:rPr lang="en-US" dirty="0" smtClean="0"/>
              <a:t>Not consistent</a:t>
            </a:r>
          </a:p>
          <a:p>
            <a:pPr lvl="1"/>
            <a:r>
              <a:rPr lang="en-US" dirty="0" smtClean="0"/>
              <a:t>Large, bright</a:t>
            </a:r>
          </a:p>
          <a:p>
            <a:pPr lvl="1"/>
            <a:r>
              <a:rPr lang="en-US" dirty="0" smtClean="0"/>
              <a:t>Edge effect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741" y="3045853"/>
            <a:ext cx="6026373" cy="3342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577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</a:t>
            </a:r>
            <a:r>
              <a:rPr lang="en-US" dirty="0" smtClean="0"/>
              <a:t>Attention [3/3]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245523"/>
            <a:ext cx="10457645" cy="53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606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32" y="332972"/>
            <a:ext cx="11525250" cy="606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29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Human Error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Reducing action slips</a:t>
            </a:r>
          </a:p>
          <a:p>
            <a:pPr lvl="1"/>
            <a:r>
              <a:rPr lang="en-US" dirty="0" smtClean="0"/>
              <a:t>Wizards</a:t>
            </a:r>
          </a:p>
          <a:p>
            <a:pPr lvl="1"/>
            <a:r>
              <a:rPr lang="en-US" dirty="0" smtClean="0"/>
              <a:t>Step by step, next/back option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645" y="1906073"/>
            <a:ext cx="6065949" cy="426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96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920" y="223457"/>
            <a:ext cx="8208136" cy="132556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Activity!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9596" y="1043189"/>
            <a:ext cx="4373974" cy="49197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1920" y="1931045"/>
            <a:ext cx="653388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Doors are very simple objects. Complex things may need explaining, but simple things should not. 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simple objects need pictures, labels, or instructions, then design has failed.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131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9183" y="920839"/>
            <a:ext cx="5520542" cy="53060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18" y="605307"/>
            <a:ext cx="5498206" cy="573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45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56" y="159063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Stroop Effect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56" y="1532966"/>
            <a:ext cx="6734578" cy="4351338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/>
              <a:t>Stroop Effect</a:t>
            </a:r>
            <a:r>
              <a:rPr lang="en-US" dirty="0" smtClean="0"/>
              <a:t> is a </a:t>
            </a:r>
            <a:r>
              <a:rPr lang="en-US" b="1" dirty="0" smtClean="0"/>
              <a:t>psychological phenomenon</a:t>
            </a:r>
            <a:r>
              <a:rPr lang="en-US" dirty="0" smtClean="0"/>
              <a:t> where your brain gets </a:t>
            </a:r>
            <a:r>
              <a:rPr lang="en-US" b="1" dirty="0" smtClean="0"/>
              <a:t>confused when the meaning of a word conflicts with what you see</a:t>
            </a:r>
            <a:r>
              <a:rPr lang="en-US" dirty="0" smtClean="0"/>
              <a:t>, causing </a:t>
            </a:r>
            <a:r>
              <a:rPr lang="en-US" b="1" dirty="0" smtClean="0"/>
              <a:t>slower reaction time or mistakes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>
                <a:ea typeface="ＭＳ Ｐゴシック" panose="020B0600070205080204" pitchFamily="34" charset="-128"/>
              </a:rPr>
              <a:t>This leads to a discussion of frustrating and contradictory interfaces, and the need for interface designers to think more about their audience.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260" y="1532966"/>
            <a:ext cx="4800600" cy="415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09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NZ" altLang="zh-CN" sz="12900" b="1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BLUE</a:t>
            </a:r>
            <a:endParaRPr lang="en-AU" sz="12900" b="1">
              <a:solidFill>
                <a:srgbClr val="FF0000"/>
              </a:solidFill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69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chemeClr val="accent2"/>
                </a:solidFill>
                <a:latin typeface="Tahoma" panose="020B0604030504040204" pitchFamily="34" charset="0"/>
              </a:rPr>
              <a:t>GREEN</a:t>
            </a:r>
          </a:p>
        </p:txBody>
      </p:sp>
    </p:spTree>
    <p:extLst>
      <p:ext uri="{BB962C8B-B14F-4D97-AF65-F5344CB8AC3E}">
        <p14:creationId xmlns:p14="http://schemas.microsoft.com/office/powerpoint/2010/main" val="37873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00CC00"/>
                </a:solidFill>
                <a:latin typeface="Tahoma" panose="020B0604030504040204" pitchFamily="34" charset="0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111724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FF0000"/>
                </a:solidFill>
                <a:latin typeface="Tahoma" panose="020B0604030504040204" pitchFamily="34" charset="0"/>
              </a:rPr>
              <a:t>PURPLE</a:t>
            </a:r>
          </a:p>
        </p:txBody>
      </p:sp>
    </p:spTree>
    <p:extLst>
      <p:ext uri="{BB962C8B-B14F-4D97-AF65-F5344CB8AC3E}">
        <p14:creationId xmlns:p14="http://schemas.microsoft.com/office/powerpoint/2010/main" val="176462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FFFF00"/>
                </a:solidFill>
                <a:latin typeface="Tahoma" panose="020B0604030504040204" pitchFamily="34" charset="0"/>
              </a:rPr>
              <a:t>BLACK</a:t>
            </a:r>
            <a:endParaRPr lang="en-AU" sz="12800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4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66FF33"/>
                </a:solidFill>
                <a:latin typeface="Tahoma" panose="020B0604030504040204" pitchFamily="34" charset="0"/>
              </a:rPr>
              <a:t>YELLOW</a:t>
            </a:r>
            <a:endParaRPr lang="en-AU" sz="12800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90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000000"/>
                </a:solidFill>
                <a:latin typeface="Tahoma" panose="020B0604030504040204" pitchFamily="34" charset="0"/>
              </a:rPr>
              <a:t>PURPLE</a:t>
            </a:r>
            <a:endParaRPr lang="en-AU" sz="12800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84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0000FF"/>
                </a:solidFill>
                <a:latin typeface="Tahoma" panose="020B0604030504040204" pitchFamily="34" charset="0"/>
              </a:rPr>
              <a:t>GREEN</a:t>
            </a:r>
            <a:endParaRPr lang="en-AU" sz="12800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43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FF0000"/>
                </a:solidFill>
                <a:latin typeface="Tahoma" panose="020B0604030504040204" pitchFamily="34" charset="0"/>
              </a:rPr>
              <a:t>BLUE</a:t>
            </a:r>
            <a:endParaRPr lang="en-AU" sz="12800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04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>
                <a:ea typeface="ＭＳ Ｐゴシック" panose="020B0600070205080204" pitchFamily="34" charset="-128"/>
              </a:rPr>
              <a:t>Stop the computer...</a:t>
            </a: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214" y="2965451"/>
            <a:ext cx="2160587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936" r="92441" b="191"/>
          <a:stretch>
            <a:fillRect/>
          </a:stretch>
        </p:blipFill>
        <p:spPr bwMode="auto">
          <a:xfrm>
            <a:off x="2794716" y="2833689"/>
            <a:ext cx="6027312" cy="149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690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>
                <a:ea typeface="ＭＳ Ｐゴシック" panose="020B0600070205080204" pitchFamily="34" charset="-128"/>
              </a:rPr>
              <a:t>Stop the computer...</a:t>
            </a:r>
          </a:p>
        </p:txBody>
      </p:sp>
      <p:pic>
        <p:nvPicPr>
          <p:cNvPr id="30723" name="Picture 3" descr="Start Menu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153" y="1690688"/>
            <a:ext cx="4149263" cy="212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33" r="72466" b="191"/>
          <a:stretch>
            <a:fillRect/>
          </a:stretch>
        </p:blipFill>
        <p:spPr bwMode="auto">
          <a:xfrm>
            <a:off x="1799130" y="4264183"/>
            <a:ext cx="8316912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520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901" y="2073499"/>
            <a:ext cx="3884054" cy="303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95" t="25206" r="35202" b="51031"/>
          <a:stretch>
            <a:fillRect/>
          </a:stretch>
        </p:blipFill>
        <p:spPr bwMode="auto">
          <a:xfrm>
            <a:off x="760188" y="1365159"/>
            <a:ext cx="6236751" cy="374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993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25682"/>
          <a:stretch/>
        </p:blipFill>
        <p:spPr>
          <a:xfrm>
            <a:off x="752943" y="582635"/>
            <a:ext cx="10819764" cy="545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149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76597"/>
          <a:stretch/>
        </p:blipFill>
        <p:spPr>
          <a:xfrm>
            <a:off x="1203704" y="1493949"/>
            <a:ext cx="10206978" cy="229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807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749" y="472963"/>
            <a:ext cx="8489861" cy="55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421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042" y="1396015"/>
            <a:ext cx="8291111" cy="34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7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1177</TotalTime>
  <Words>1539</Words>
  <Application>Microsoft Office PowerPoint</Application>
  <PresentationFormat>Widescreen</PresentationFormat>
  <Paragraphs>241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ＭＳ Ｐゴシック</vt:lpstr>
      <vt:lpstr>SimSun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Memory (Chapter 22) Lecture 3-4</vt:lpstr>
      <vt:lpstr>PowerPoint Presentation</vt:lpstr>
      <vt:lpstr>Introduction</vt:lpstr>
      <vt:lpstr>Introduction</vt:lpstr>
      <vt:lpstr>Introduction</vt:lpstr>
      <vt:lpstr>Memory Stores</vt:lpstr>
      <vt:lpstr>Sensory Stores</vt:lpstr>
      <vt:lpstr>Working Memory [1/3]</vt:lpstr>
      <vt:lpstr>Working Memory [2/3]</vt:lpstr>
      <vt:lpstr>Working Memory [3/3]</vt:lpstr>
      <vt:lpstr>Long-Term Memory [1/3]</vt:lpstr>
      <vt:lpstr>Long-Term Memory [2/3]</vt:lpstr>
      <vt:lpstr>Long-Term Memory [3/3]</vt:lpstr>
      <vt:lpstr>How and Why Do We Forget? [1/3]</vt:lpstr>
      <vt:lpstr>How and Why Do We Forget? [2/3]</vt:lpstr>
      <vt:lpstr>How and Why Do We Forget? [3/3]</vt:lpstr>
      <vt:lpstr>Attention</vt:lpstr>
      <vt:lpstr>Schematic Model of Memory</vt:lpstr>
      <vt:lpstr>Recap of Memory and its importance in HCI</vt:lpstr>
      <vt:lpstr>Recap of Memory and its importance in HCI</vt:lpstr>
      <vt:lpstr>How Attention Works [1/2]</vt:lpstr>
      <vt:lpstr>Tips for memory-friendly Usability/UX</vt:lpstr>
      <vt:lpstr>How Attention Works [2/2]</vt:lpstr>
      <vt:lpstr>Factors Affecting Attention [1/3]</vt:lpstr>
      <vt:lpstr>Factors Affecting Attention [2/3]</vt:lpstr>
      <vt:lpstr>Factors Affecting Attention [3/3]</vt:lpstr>
      <vt:lpstr>PowerPoint Presentation</vt:lpstr>
      <vt:lpstr>Human Error</vt:lpstr>
      <vt:lpstr>Activity!</vt:lpstr>
      <vt:lpstr>PowerPoint Presentation</vt:lpstr>
      <vt:lpstr>Stroop Effect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Stop the computer...</vt:lpstr>
      <vt:lpstr>Stop the computer...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HCI Class Activity</dc:title>
  <dc:creator>PC</dc:creator>
  <cp:lastModifiedBy>Microsoft account</cp:lastModifiedBy>
  <cp:revision>13</cp:revision>
  <dcterms:created xsi:type="dcterms:W3CDTF">2026-01-27T05:55:12Z</dcterms:created>
  <dcterms:modified xsi:type="dcterms:W3CDTF">2026-03-04T06:36:45Z</dcterms:modified>
</cp:coreProperties>
</file>