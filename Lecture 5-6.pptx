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74" r:id="rId3"/>
    <p:sldId id="286" r:id="rId4"/>
    <p:sldId id="289" r:id="rId5"/>
    <p:sldId id="287" r:id="rId6"/>
    <p:sldId id="288" r:id="rId7"/>
    <p:sldId id="275" r:id="rId8"/>
    <p:sldId id="276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90" r:id="rId18"/>
    <p:sldId id="291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790DA-0CC7-4288-AC8B-67B5C2212D53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210F9-6433-46BC-B302-E06A176AA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39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349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3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1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6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23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1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4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70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36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504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30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646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0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0104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059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451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144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458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7452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D8A30-DCBF-486E-9668-EE67C91966FE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66EA0-7026-4858-9137-1046CB2DCA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9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98" y="281189"/>
            <a:ext cx="6392214" cy="419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71988" y="5288558"/>
            <a:ext cx="88735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Emotion and Affective Computing (Chapter 23)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Lecture 5-6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45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402" y="321346"/>
            <a:ext cx="10769600" cy="869950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23402" y="1758704"/>
            <a:ext cx="5874198" cy="4419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Affect</a:t>
            </a:r>
          </a:p>
          <a:p>
            <a:pPr lvl="1"/>
            <a:r>
              <a:rPr lang="en-US" dirty="0" smtClean="0"/>
              <a:t>Emotions, feelings, moods, sentiments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Basic emotions</a:t>
            </a:r>
          </a:p>
          <a:p>
            <a:pPr lvl="1"/>
            <a:r>
              <a:rPr lang="en-US" dirty="0" smtClean="0"/>
              <a:t>Fear, anger, surprise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Long-term emotions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 smtClean="0"/>
              <a:t>Love, jealousy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Person’s level of arousal and stress</a:t>
            </a:r>
          </a:p>
          <a:p>
            <a:r>
              <a:rPr lang="en-US" dirty="0" smtClean="0"/>
              <a:t>Affective computing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966" y="4286921"/>
            <a:ext cx="5503840" cy="18913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286" y="1191296"/>
            <a:ext cx="5600356" cy="264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7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41" y="1497482"/>
            <a:ext cx="9116230" cy="2035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173" y="3839157"/>
            <a:ext cx="9116230" cy="2394218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23402" y="321346"/>
            <a:ext cx="10769600" cy="8699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How these affects.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48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57" y="2303340"/>
            <a:ext cx="4737928" cy="1498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57" y="364547"/>
            <a:ext cx="4311631" cy="15411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488" y="364547"/>
            <a:ext cx="4216892" cy="24770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488" y="3263654"/>
            <a:ext cx="4100982" cy="21841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804" y="4485739"/>
            <a:ext cx="4053559" cy="192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4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16" y="295141"/>
            <a:ext cx="6224721" cy="325902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831" y="3381509"/>
            <a:ext cx="5876925" cy="33147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994" y="295141"/>
            <a:ext cx="2408350" cy="29784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016" y="3952606"/>
            <a:ext cx="2864342" cy="256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16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75" y="0"/>
            <a:ext cx="6867525" cy="39866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53" y="3013656"/>
            <a:ext cx="6477000" cy="354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17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Psychological Theories of Emotion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Basic emotions</a:t>
            </a:r>
          </a:p>
          <a:p>
            <a:pPr lvl="1"/>
            <a:r>
              <a:rPr lang="en-US" dirty="0"/>
              <a:t>Fear</a:t>
            </a:r>
            <a:r>
              <a:rPr lang="en-US" dirty="0" smtClean="0"/>
              <a:t>, surprise, disgust</a:t>
            </a:r>
            <a:r>
              <a:rPr lang="en-US" dirty="0"/>
              <a:t>, </a:t>
            </a:r>
            <a:r>
              <a:rPr lang="en-US" dirty="0" smtClean="0"/>
              <a:t>anger, happiness, </a:t>
            </a:r>
            <a:r>
              <a:rPr lang="en-US" dirty="0"/>
              <a:t>and </a:t>
            </a:r>
            <a:r>
              <a:rPr lang="en-US" dirty="0" smtClean="0"/>
              <a:t>sadness</a:t>
            </a:r>
          </a:p>
          <a:p>
            <a:pPr lvl="1"/>
            <a:r>
              <a:rPr lang="en-US" dirty="0" smtClean="0"/>
              <a:t>Universal – recognized and expressed in the same way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Facial Action Coding System </a:t>
            </a:r>
            <a:r>
              <a:rPr lang="en-US" dirty="0">
                <a:solidFill>
                  <a:srgbClr val="002060"/>
                </a:solidFill>
              </a:rPr>
              <a:t>(FACS</a:t>
            </a:r>
            <a:r>
              <a:rPr lang="en-US" dirty="0" smtClean="0">
                <a:solidFill>
                  <a:srgbClr val="002060"/>
                </a:solidFill>
              </a:rPr>
              <a:t>) </a:t>
            </a:r>
            <a:r>
              <a:rPr lang="en-US" dirty="0" smtClean="0"/>
              <a:t>– Ekman and Friesen, 1978</a:t>
            </a:r>
          </a:p>
          <a:p>
            <a:pPr lvl="1"/>
            <a:r>
              <a:rPr lang="en-US" sz="1400" b="1" dirty="0"/>
              <a:t>FACS</a:t>
            </a:r>
            <a:r>
              <a:rPr lang="en-US" sz="1400" dirty="0"/>
              <a:t> is a comprehensive, anatomically-based system for describing all visually discernible facial movements in terms of </a:t>
            </a:r>
            <a:r>
              <a:rPr lang="en-US" sz="1400" b="1" dirty="0"/>
              <a:t>Action Units (AUs)</a:t>
            </a:r>
            <a:r>
              <a:rPr lang="en-US" sz="1400" dirty="0"/>
              <a:t>. Originally developed by </a:t>
            </a:r>
            <a:r>
              <a:rPr lang="en-US" sz="1400" b="1" dirty="0"/>
              <a:t>Paul Ekman and Wallace V. Friesen</a:t>
            </a:r>
            <a:r>
              <a:rPr lang="en-US" sz="1400" dirty="0"/>
              <a:t> (1978), it has become the </a:t>
            </a:r>
            <a:r>
              <a:rPr lang="en-US" sz="1400" b="1" dirty="0"/>
              <a:t>gold standard</a:t>
            </a:r>
            <a:r>
              <a:rPr lang="en-US" sz="1400" dirty="0"/>
              <a:t> in facial behavior analysis.</a:t>
            </a:r>
            <a:endParaRPr lang="en-US" sz="1400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Eight pairs </a:t>
            </a:r>
            <a:r>
              <a:rPr lang="en-US" dirty="0"/>
              <a:t>of </a:t>
            </a:r>
            <a:r>
              <a:rPr lang="en-US" dirty="0" smtClean="0"/>
              <a:t>primary </a:t>
            </a:r>
            <a:r>
              <a:rPr lang="en-US" dirty="0"/>
              <a:t>emotions that can be combined to produce </a:t>
            </a:r>
            <a:r>
              <a:rPr lang="en-US" dirty="0" smtClean="0"/>
              <a:t>secondary emotion – </a:t>
            </a:r>
            <a:r>
              <a:rPr lang="en-US" dirty="0" err="1" smtClean="0"/>
              <a:t>Plutchik</a:t>
            </a:r>
            <a:r>
              <a:rPr lang="en-US" dirty="0" smtClean="0"/>
              <a:t> </a:t>
            </a:r>
            <a:r>
              <a:rPr lang="en-US" dirty="0"/>
              <a:t>(1980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Pleasure (valence) and arousal – </a:t>
            </a:r>
            <a:r>
              <a:rPr lang="en-US" dirty="0" err="1" smtClean="0"/>
              <a:t>Russel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/>
              <a:t>Fernandez-</a:t>
            </a:r>
            <a:r>
              <a:rPr lang="en-US" dirty="0" err="1" smtClean="0"/>
              <a:t>Dols</a:t>
            </a:r>
            <a:r>
              <a:rPr lang="en-US" dirty="0" smtClean="0"/>
              <a:t> (1997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828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Eight pairs of primary emotions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052" y="1286189"/>
            <a:ext cx="9105096" cy="492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604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James-Lange theory – 1890s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2800" y="1484784"/>
            <a:ext cx="8153400" cy="4800600"/>
          </a:xfrm>
        </p:spPr>
        <p:txBody>
          <a:bodyPr>
            <a:normAutofit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/>
              <a:t>Action precedes </a:t>
            </a:r>
            <a:r>
              <a:rPr lang="en-US" dirty="0" smtClean="0"/>
              <a:t>emotions (Sequential)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 smtClean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 smtClean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endParaRPr lang="en-US" dirty="0"/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 smtClean="0"/>
              <a:t>Events/Actions/Incidents/Accidents……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 smtClean="0"/>
              <a:t>Physiological Response/Reaction……….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 smtClean="0"/>
              <a:t>Interpretation…….Making Sense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en-US" dirty="0" smtClean="0"/>
              <a:t>Result: Emotion, its type and level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133" y="2053777"/>
            <a:ext cx="7565667" cy="1952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47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Cannon-Bard theory – 1920s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93169"/>
            <a:ext cx="81534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sz="2600" dirty="0">
                <a:solidFill>
                  <a:prstClr val="black"/>
                </a:solidFill>
              </a:rPr>
              <a:t>Actions follow from cognitive appraisal (Parallel)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600" dirty="0">
                <a:solidFill>
                  <a:prstClr val="black"/>
                </a:solidFill>
              </a:rPr>
              <a:t>Events/Actions/Incidents/Accidents….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dirty="0">
                <a:solidFill>
                  <a:prstClr val="black"/>
                </a:solidFill>
              </a:rPr>
              <a:t>Physiological Response/Reaction</a:t>
            </a:r>
            <a:r>
              <a:rPr lang="en-US" dirty="0" smtClean="0">
                <a:solidFill>
                  <a:prstClr val="black"/>
                </a:solidFill>
              </a:rPr>
              <a:t>……….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dirty="0" smtClean="0">
                <a:solidFill>
                  <a:prstClr val="black"/>
                </a:solidFill>
              </a:rPr>
              <a:t>Interpretation……Making Sense…….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dirty="0" smtClean="0">
                <a:solidFill>
                  <a:prstClr val="black"/>
                </a:solidFill>
              </a:rPr>
              <a:t>Result: Emotion, its type and level 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endParaRPr lang="en-US" dirty="0" smtClean="0">
              <a:solidFill>
                <a:prstClr val="black"/>
              </a:solidFill>
            </a:endParaRP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endParaRPr lang="en-US" dirty="0" smtClean="0">
              <a:solidFill>
                <a:prstClr val="black"/>
              </a:solidFill>
            </a:endParaRP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endParaRPr lang="en-US" dirty="0">
              <a:solidFill>
                <a:prstClr val="black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828" y="1886893"/>
            <a:ext cx="4871923" cy="4070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348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Schacter</a:t>
            </a:r>
            <a:r>
              <a:rPr lang="en-US" dirty="0"/>
              <a:t>-Singer – 1960s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91922" y="1404466"/>
            <a:ext cx="8499894" cy="4419600"/>
          </a:xfrm>
        </p:spPr>
        <p:txBody>
          <a:bodyPr>
            <a:normAutofit/>
          </a:bodyPr>
          <a:lstStyle/>
          <a:p>
            <a:r>
              <a:rPr lang="en-US" dirty="0" smtClean="0"/>
              <a:t>Emotion </a:t>
            </a:r>
            <a:r>
              <a:rPr lang="en-US" dirty="0"/>
              <a:t>is the result of </a:t>
            </a:r>
            <a:r>
              <a:rPr lang="en-US" dirty="0" smtClean="0"/>
              <a:t>evaluation </a:t>
            </a:r>
            <a:r>
              <a:rPr lang="en-US" dirty="0"/>
              <a:t>of </a:t>
            </a:r>
            <a:r>
              <a:rPr lang="en-US" dirty="0" smtClean="0"/>
              <a:t>physiological responses in the context</a:t>
            </a:r>
          </a:p>
          <a:p>
            <a:r>
              <a:rPr lang="en-US" sz="2000" dirty="0"/>
              <a:t>Events/Incidents in a Context</a:t>
            </a:r>
          </a:p>
          <a:p>
            <a:r>
              <a:rPr lang="en-US" sz="2000" dirty="0"/>
              <a:t>Physiological and Cognitive Response</a:t>
            </a:r>
          </a:p>
          <a:p>
            <a:r>
              <a:rPr lang="en-US" sz="2000" dirty="0"/>
              <a:t>Identifying Reasons based on events and</a:t>
            </a:r>
          </a:p>
          <a:p>
            <a:pPr marL="0" indent="0">
              <a:buNone/>
            </a:pPr>
            <a:r>
              <a:rPr lang="en-US" sz="2000" dirty="0"/>
              <a:t>    responses in a situation simultaneously  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sz="2000" dirty="0"/>
              <a:t>Interpretation……Making Sense…….</a:t>
            </a:r>
          </a:p>
          <a:p>
            <a:pPr marL="320040" lvl="1" indent="-320040">
              <a:spcBef>
                <a:spcPts val="700"/>
              </a:spcBef>
              <a:buClr>
                <a:srgbClr val="438086"/>
              </a:buClr>
              <a:buSzPct val="60000"/>
              <a:buFont typeface="Wingdings"/>
              <a:buChar char=""/>
            </a:pPr>
            <a:r>
              <a:rPr lang="en-US" sz="2000" dirty="0"/>
              <a:t>Result: Emotion, its type and level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400" dirty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794" y="2055021"/>
            <a:ext cx="5803006" cy="4483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94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Implications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“Negative affect can make it harder to do even easy tasks; positive affect can make it easier to do difficult tasks” </a:t>
            </a:r>
            <a:r>
              <a:rPr lang="en-US" dirty="0" smtClean="0"/>
              <a:t>(</a:t>
            </a:r>
            <a:r>
              <a:rPr lang="en-US" dirty="0"/>
              <a:t>Donald Norman</a:t>
            </a:r>
            <a:r>
              <a:rPr lang="en-US" dirty="0" smtClean="0"/>
              <a:t>)</a:t>
            </a:r>
          </a:p>
          <a:p>
            <a:r>
              <a:rPr lang="en-GB" altLang="en-US" dirty="0" smtClean="0"/>
              <a:t>Stress </a:t>
            </a:r>
            <a:r>
              <a:rPr lang="en-GB" altLang="en-US" dirty="0"/>
              <a:t>will increase the difficulty of problem solving</a:t>
            </a:r>
          </a:p>
          <a:p>
            <a:r>
              <a:rPr lang="en-GB" altLang="en-US" dirty="0" smtClean="0"/>
              <a:t>Relaxed </a:t>
            </a:r>
            <a:r>
              <a:rPr lang="en-GB" altLang="en-US" dirty="0"/>
              <a:t>users will be more forgiving of shortcomings in design</a:t>
            </a:r>
          </a:p>
          <a:p>
            <a:r>
              <a:rPr lang="en-GB" altLang="en-US" dirty="0" smtClean="0"/>
              <a:t>Aesthetically </a:t>
            </a:r>
            <a:r>
              <a:rPr lang="en-GB" altLang="en-US" dirty="0"/>
              <a:t>pleasing and rewarding interfaces will increase positive </a:t>
            </a:r>
            <a:r>
              <a:rPr lang="en-GB" altLang="en-US" dirty="0" smtClean="0"/>
              <a:t>affect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Source: HCI, A. Dix et al., 3</a:t>
            </a:r>
            <a:r>
              <a:rPr lang="en-US" sz="900" baseline="30000" dirty="0"/>
              <a:t>rd</a:t>
            </a:r>
            <a:r>
              <a:rPr lang="en-US" sz="900" dirty="0"/>
              <a:t> Ed. P. 52</a:t>
            </a:r>
          </a:p>
        </p:txBody>
      </p:sp>
    </p:spTree>
    <p:extLst>
      <p:ext uri="{BB962C8B-B14F-4D97-AF65-F5344CB8AC3E}">
        <p14:creationId xmlns:p14="http://schemas.microsoft.com/office/powerpoint/2010/main" val="371172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Detecting and Recognizing Emotions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Apparent to other people</a:t>
            </a:r>
          </a:p>
          <a:p>
            <a:pPr lvl="1"/>
            <a:r>
              <a:rPr lang="en-US" dirty="0" smtClean="0"/>
              <a:t>Facial expression, voice intonation, gesture, movement, posture, pupillary dilation</a:t>
            </a:r>
          </a:p>
          <a:p>
            <a:r>
              <a:rPr lang="en-US" dirty="0" smtClean="0"/>
              <a:t>Less apparent to other people</a:t>
            </a:r>
            <a:endParaRPr lang="en-US" dirty="0"/>
          </a:p>
          <a:p>
            <a:pPr lvl="1"/>
            <a:r>
              <a:rPr lang="en-US" dirty="0" smtClean="0"/>
              <a:t>Respiration, heart rate, pulse, temperature, electro dermal response, perspiration, blood pressure</a:t>
            </a:r>
          </a:p>
          <a:p>
            <a:r>
              <a:rPr lang="en-US" dirty="0" smtClean="0"/>
              <a:t>Challenges: detecting </a:t>
            </a:r>
            <a:r>
              <a:rPr lang="en-US" dirty="0"/>
              <a:t>changes and attributing them to the correct emotion</a:t>
            </a:r>
          </a:p>
        </p:txBody>
      </p:sp>
    </p:spTree>
    <p:extLst>
      <p:ext uri="{BB962C8B-B14F-4D97-AF65-F5344CB8AC3E}">
        <p14:creationId xmlns:p14="http://schemas.microsoft.com/office/powerpoint/2010/main" val="431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Steps to Recognize Emotions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Input</a:t>
            </a:r>
          </a:p>
          <a:p>
            <a:pPr lvl="1"/>
            <a:r>
              <a:rPr lang="en-US" dirty="0" smtClean="0"/>
              <a:t>Receiving </a:t>
            </a:r>
            <a:r>
              <a:rPr lang="en-US" dirty="0"/>
              <a:t>a variety of input </a:t>
            </a:r>
            <a:r>
              <a:rPr lang="en-US" dirty="0" smtClean="0"/>
              <a:t>signals</a:t>
            </a:r>
          </a:p>
          <a:p>
            <a:r>
              <a:rPr lang="en-US" dirty="0" smtClean="0"/>
              <a:t>Pattern recognition</a:t>
            </a:r>
          </a:p>
          <a:p>
            <a:pPr lvl="1"/>
            <a:r>
              <a:rPr lang="en-US" dirty="0" smtClean="0"/>
              <a:t>Performs feature extraction and classification on these signals</a:t>
            </a:r>
          </a:p>
          <a:p>
            <a:r>
              <a:rPr lang="en-US" dirty="0" smtClean="0"/>
              <a:t>Reasoning </a:t>
            </a:r>
          </a:p>
          <a:p>
            <a:pPr lvl="1"/>
            <a:r>
              <a:rPr lang="en-US" dirty="0" smtClean="0"/>
              <a:t>Predicts </a:t>
            </a:r>
            <a:r>
              <a:rPr lang="en-US" dirty="0"/>
              <a:t>underlying emotion based on knowledge about how emotions are generated and </a:t>
            </a:r>
            <a:r>
              <a:rPr lang="en-US" dirty="0" smtClean="0"/>
              <a:t>expressed</a:t>
            </a:r>
          </a:p>
          <a:p>
            <a:r>
              <a:rPr lang="en-US" dirty="0" smtClean="0"/>
              <a:t>Learning </a:t>
            </a:r>
          </a:p>
          <a:p>
            <a:pPr lvl="1"/>
            <a:r>
              <a:rPr lang="en-US" dirty="0" smtClean="0"/>
              <a:t>As </a:t>
            </a:r>
            <a:r>
              <a:rPr lang="en-US" dirty="0"/>
              <a:t>the computer ‘gets to know’ someone, it learns which of the above factors are most important for that </a:t>
            </a:r>
            <a:r>
              <a:rPr lang="en-US" dirty="0" smtClean="0"/>
              <a:t>individual</a:t>
            </a:r>
            <a:endParaRPr lang="en-US" dirty="0"/>
          </a:p>
          <a:p>
            <a:r>
              <a:rPr lang="en-US" dirty="0" smtClean="0"/>
              <a:t>Bias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emotional state of the </a:t>
            </a:r>
            <a:r>
              <a:rPr lang="en-US" dirty="0" smtClean="0"/>
              <a:t>computer</a:t>
            </a:r>
            <a:endParaRPr lang="en-US" dirty="0"/>
          </a:p>
          <a:p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computer names (or describes) the recognized expressions and the likely underlying </a:t>
            </a:r>
            <a:r>
              <a:rPr lang="en-US" dirty="0" smtClean="0"/>
              <a:t>emotion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8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Some Issues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15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Good progress so far</a:t>
            </a:r>
            <a:endParaRPr lang="en-US" dirty="0"/>
          </a:p>
          <a:p>
            <a:r>
              <a:rPr lang="en-US" dirty="0"/>
              <a:t>Sensors and software </a:t>
            </a:r>
            <a:r>
              <a:rPr lang="en-US" dirty="0" smtClean="0"/>
              <a:t>are available to detect </a:t>
            </a:r>
            <a:r>
              <a:rPr lang="en-US" dirty="0"/>
              <a:t>physiological </a:t>
            </a:r>
            <a:r>
              <a:rPr lang="en-US" dirty="0" smtClean="0"/>
              <a:t>changes</a:t>
            </a:r>
            <a:endParaRPr lang="en-US" dirty="0"/>
          </a:p>
          <a:p>
            <a:r>
              <a:rPr lang="en-US" dirty="0" smtClean="0"/>
              <a:t>Sensors </a:t>
            </a:r>
            <a:r>
              <a:rPr lang="en-US" dirty="0"/>
              <a:t>themselves are too intrusive or awkward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data requires expert analysis </a:t>
            </a:r>
            <a:r>
              <a:rPr lang="en-US" dirty="0" smtClean="0"/>
              <a:t>or </a:t>
            </a:r>
            <a:r>
              <a:rPr lang="en-US" dirty="0"/>
              <a:t>intelligent </a:t>
            </a:r>
            <a:r>
              <a:rPr lang="en-US" dirty="0" smtClean="0"/>
              <a:t>systems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same combinations of physiological signs can belong to different emotions </a:t>
            </a:r>
            <a:r>
              <a:rPr lang="en-US" dirty="0" smtClean="0"/>
              <a:t>e.g. the </a:t>
            </a:r>
            <a:r>
              <a:rPr lang="en-US" dirty="0"/>
              <a:t>signs of disgust and amusement are very </a:t>
            </a:r>
            <a:r>
              <a:rPr lang="en-US" dirty="0" smtClean="0"/>
              <a:t>similar 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need for the detection of other physical signs and/or pattern </a:t>
            </a:r>
            <a:r>
              <a:rPr lang="en-US" dirty="0" smtClean="0"/>
              <a:t>recognition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24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smtClean="0"/>
              <a:pPr/>
              <a:t>16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StartleCam</a:t>
            </a:r>
            <a:r>
              <a:rPr lang="en-US" dirty="0" smtClean="0"/>
              <a:t> (1999)</a:t>
            </a:r>
            <a:endParaRPr lang="en-US" dirty="0"/>
          </a:p>
          <a:p>
            <a:r>
              <a:rPr lang="en-US" dirty="0" smtClean="0"/>
              <a:t>System to recognize eight emotions (Picard </a:t>
            </a:r>
            <a:r>
              <a:rPr lang="en-US" dirty="0"/>
              <a:t>et al., </a:t>
            </a:r>
            <a:r>
              <a:rPr lang="en-US" dirty="0" smtClean="0"/>
              <a:t>2001)</a:t>
            </a:r>
          </a:p>
          <a:p>
            <a:r>
              <a:rPr lang="en-US" dirty="0" smtClean="0"/>
              <a:t>Face tracking systems</a:t>
            </a:r>
          </a:p>
          <a:p>
            <a:r>
              <a:rPr lang="en-US" dirty="0" smtClean="0"/>
              <a:t>Healthcare systems</a:t>
            </a:r>
          </a:p>
          <a:p>
            <a:r>
              <a:rPr lang="en-US" dirty="0" smtClean="0"/>
              <a:t>Earring for blood pressure</a:t>
            </a:r>
          </a:p>
          <a:p>
            <a:r>
              <a:rPr lang="en-US" dirty="0">
                <a:ea typeface="Times New Roman"/>
              </a:rPr>
              <a:t>‘6th sense’ </a:t>
            </a:r>
            <a:r>
              <a:rPr lang="en-US" dirty="0" smtClean="0">
                <a:ea typeface="Times New Roman"/>
              </a:rPr>
              <a:t>– a light </a:t>
            </a:r>
            <a:r>
              <a:rPr lang="en-US" dirty="0">
                <a:ea typeface="Times New Roman"/>
              </a:rPr>
              <a:t>sculpture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39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106" y="383952"/>
            <a:ext cx="8407020" cy="574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6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525" y="1278161"/>
            <a:ext cx="8064940" cy="324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48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94" y="351754"/>
            <a:ext cx="8436267" cy="587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73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203" y="1243414"/>
            <a:ext cx="8114414" cy="356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6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013" y="325795"/>
            <a:ext cx="8203843" cy="604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13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513</Words>
  <Application>Microsoft Office PowerPoint</Application>
  <PresentationFormat>Widescreen</PresentationFormat>
  <Paragraphs>109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Times New Roman</vt:lpstr>
      <vt:lpstr>Wingdings</vt:lpstr>
      <vt:lpstr>Office Theme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Psychological Theories of Emotion</vt:lpstr>
      <vt:lpstr>Eight pairs of primary emotions</vt:lpstr>
      <vt:lpstr>James-Lange theory – 1890s</vt:lpstr>
      <vt:lpstr>The Cannon-Bard theory – 1920s</vt:lpstr>
      <vt:lpstr>Schacter-Singer – 1960s</vt:lpstr>
      <vt:lpstr>Implications</vt:lpstr>
      <vt:lpstr>Detecting and Recognizing Emotions</vt:lpstr>
      <vt:lpstr>Basic Steps to Recognize Emotions</vt:lpstr>
      <vt:lpstr>Some Issues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 Class Activity</dc:title>
  <dc:creator>PC</dc:creator>
  <cp:lastModifiedBy>Microsoft account</cp:lastModifiedBy>
  <cp:revision>20</cp:revision>
  <dcterms:created xsi:type="dcterms:W3CDTF">2026-01-27T05:55:12Z</dcterms:created>
  <dcterms:modified xsi:type="dcterms:W3CDTF">2026-03-04T06:36:09Z</dcterms:modified>
</cp:coreProperties>
</file>